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futuristic_sports_a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" y="59436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58368"/>
            <a:ext cx="1380744" cy="109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PROJECT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621792" y="1097280"/>
            <a:ext cx="65836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Learning-based Automated Tennis Tracking System for Line Calling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6217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8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ball tracking, bounce detection, court projection, and in/out decision-making from standard broadcast video.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6080760"/>
            <a:ext cx="63093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Trần Ngọc Hùng · Data Science · Academic Year 2025–2026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Motivation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Why this problem matters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383280" cy="411480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25880"/>
            <a:ext cx="64008" cy="4114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508760"/>
            <a:ext cx="3063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892808"/>
            <a:ext cx="3063240" cy="3410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tennis videos are easy to access, but they are not designed for millimeter-level line calling. The system must infer the ball landing position from 2D footage.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383280" cy="411480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325880"/>
            <a:ext cx="64008" cy="4114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508760"/>
            <a:ext cx="3063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1892808"/>
            <a:ext cx="3063240" cy="3410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systems rely on specialized multi-camera setups. This project studies a lower-cost, deep-learning approach using standard 30 fps broadcast video.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29600" y="1325880"/>
            <a:ext cx="3337560" cy="41148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325880"/>
            <a:ext cx="64008" cy="4114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1892808"/>
            <a:ext cx="3017520" cy="3410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end-to-end prototype that tracks the ball, detects bounce, maps coordinates to court space, and outputs In/Out decisions.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Technical Challenges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The difficult parts of broadcast-video line calling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64008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object size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1865376"/>
            <a:ext cx="22860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ball occupies only a small number of pixels, especially from far broadcast cameras.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474720" y="1298448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298448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blur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1865376"/>
            <a:ext cx="22860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ball speed and 30 fps video make precise localization difficult.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55080" y="1298448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298448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Occlusion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6248" y="1865376"/>
            <a:ext cx="22860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ball can be hidden by player body, racket, net, or camera compression artifacts.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235440" y="1298448"/>
            <a:ext cx="23774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1298448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1481328"/>
            <a:ext cx="2057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ambiguity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36608" y="1865376"/>
            <a:ext cx="20574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Single-camera video lacks direct depth, so geometric mapping is needed.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14400" y="5074920"/>
            <a:ext cx="1005840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48463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84632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4846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 frame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4846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 mapping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0" y="48463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836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In/Out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5989320"/>
            <a:ext cx="95097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stage amplifies localization error, so the design emphasizes robust tracking and calibrated projection.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System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End-to-end pipeline from video frame to decision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11680"/>
            <a:ext cx="64008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Video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578608"/>
            <a:ext cx="173736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30 fps match footage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633472" y="2743200"/>
            <a:ext cx="640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201168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2011680"/>
            <a:ext cx="64008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Tracking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35808" y="2578608"/>
            <a:ext cx="173736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S-KeepTrack-style small object tracking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965192" y="2743200"/>
            <a:ext cx="640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201168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66360" y="201168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 Mapping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67528" y="2578608"/>
            <a:ext cx="173736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Keypoints + homography to 2D court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296912" y="2743200"/>
            <a:ext cx="640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201168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201168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 Detection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99248" y="2578608"/>
            <a:ext cx="173736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 and velocity time-series model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628632" y="2743200"/>
            <a:ext cx="640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201168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29800" y="201168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30968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In/Out Decision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30968" y="2578608"/>
            <a:ext cx="173736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bounce point vs court lines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097280" y="4572000"/>
            <a:ext cx="9966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separate the task into interpretable modules so each error source can be measured and improved independently.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TrackNet Tennis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Ball position labels from broadcast video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EE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44752"/>
            <a:ext cx="17373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1280×720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resolution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88920" y="132588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EE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444752"/>
            <a:ext cx="17373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fps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80360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frame rate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892040" y="132588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EE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44752"/>
            <a:ext cx="17373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~75 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83480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video duration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995160" y="132588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EE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444752"/>
            <a:ext cx="17373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game-related clips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098280" y="132588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EE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444752"/>
            <a:ext cx="17373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20,844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annotated frames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85800" y="2926080"/>
            <a:ext cx="521208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2926080"/>
            <a:ext cx="64008" cy="2240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108960"/>
            <a:ext cx="48920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and annotations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" y="3493008"/>
            <a:ext cx="4892040" cy="1536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TrackNet uses the 2017 Summer Universiade men’s singles final and provides frame-level ball coordinates, visibility class, and trajectory information.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309360" y="2926080"/>
            <a:ext cx="498348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926080"/>
            <a:ext cx="64008" cy="2240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3108960"/>
            <a:ext cx="46634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 this project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0528" y="3493008"/>
            <a:ext cx="4663440" cy="1536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directly reflects the target condition: high-speed tiny ball tracking from ordinary broadcast tennis video.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Ball Tracking Model: S-KeepTrack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Tracking tiny and fast-moving objects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48840" y="2331720"/>
            <a:ext cx="25603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00600" y="1764792"/>
            <a:ext cx="25603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3136392"/>
            <a:ext cx="25603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01000" y="2240280"/>
            <a:ext cx="25603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69880" y="2331720"/>
            <a:ext cx="25603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15087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148840"/>
            <a:ext cx="64008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331720"/>
            <a:ext cx="11887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2715768"/>
            <a:ext cx="1188720" cy="484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t−1 and 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43200" y="1508760"/>
            <a:ext cx="1600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150876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1691640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branch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44368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appearance features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743200" y="2880360"/>
            <a:ext cx="1600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0" y="288036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4368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branch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44368" y="3447288"/>
            <a:ext cx="12801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 local features for tiny ball detail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852160" y="150876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150876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 Net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53328" y="2075688"/>
            <a:ext cx="14630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matching matrix 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852160" y="288036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288036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 Net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53328" y="3447288"/>
            <a:ext cx="14630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matching matrix S̄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641080" y="2148840"/>
            <a:ext cx="15544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41080" y="214884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42248" y="2331720"/>
            <a:ext cx="12344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42248" y="2715768"/>
            <a:ext cx="1234440" cy="484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= ωS + (1−ω)S̄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10972800" y="2148840"/>
            <a:ext cx="960120" cy="1188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972800" y="214884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73968" y="2331720"/>
            <a:ext cx="6400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173968" y="2715768"/>
            <a:ext cx="640080" cy="484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ball state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adaptation for this project: use both low-level and high-level features so the model can preserve small-object details while keeping discriminative appearance matching.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Court Detection and Geometric Mapping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Project image coordinates onto a 2D tennis court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663440" cy="3429000"/>
          </a:xfrm>
          <a:prstGeom prst="rect">
            <a:avLst/>
          </a:prstGeom>
          <a:solidFill>
            <a:srgbClr val="0E766E"/>
          </a:solidFill>
          <a:ln w="203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0315" y="1794510"/>
            <a:ext cx="3917290" cy="2674620"/>
          </a:xfrm>
          <a:prstGeom prst="rect">
            <a:avLst/>
          </a:prstGeom>
          <a:solidFill>
            <a:srgbClr val="0E766E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79451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0315" y="3131820"/>
            <a:ext cx="391729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3100" y="179451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4820" y="179451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1810512"/>
            <a:ext cx="146304" cy="146304"/>
          </a:xfrm>
          <a:prstGeom prst="ellipse">
            <a:avLst/>
          </a:prstGeom>
          <a:solidFill>
            <a:srgbClr val="B9F42B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810512"/>
            <a:ext cx="146304" cy="146304"/>
          </a:xfrm>
          <a:prstGeom prst="ellipse">
            <a:avLst/>
          </a:prstGeom>
          <a:solidFill>
            <a:srgbClr val="B9F42B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498848"/>
            <a:ext cx="146304" cy="146304"/>
          </a:xfrm>
          <a:prstGeom prst="ellipse">
            <a:avLst/>
          </a:prstGeom>
          <a:solidFill>
            <a:srgbClr val="B9F42B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4498848"/>
            <a:ext cx="146304" cy="146304"/>
          </a:xfrm>
          <a:prstGeom prst="ellipse">
            <a:avLst/>
          </a:prstGeom>
          <a:solidFill>
            <a:srgbClr val="B9F42B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3127248"/>
            <a:ext cx="146304" cy="146304"/>
          </a:xfrm>
          <a:prstGeom prst="ellipse">
            <a:avLst/>
          </a:prstGeom>
          <a:solidFill>
            <a:srgbClr val="B9F42B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23444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234440"/>
            <a:ext cx="64008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Keypoint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1801368"/>
            <a:ext cx="20116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EfficientNetV2-Small predicts court landmarks from video frames.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915400" y="123444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15400" y="123444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Homography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16568" y="1801368"/>
            <a:ext cx="20116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image-space coordinates to a standardized 2D court plane.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291840"/>
            <a:ext cx="64008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3474720"/>
            <a:ext cx="20116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projection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81928" y="3858768"/>
            <a:ext cx="20116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tracked ball coordinate at bounce frame.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915400" y="329184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15400" y="3291840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16568" y="3474720"/>
            <a:ext cx="20116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distance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16568" y="3858768"/>
            <a:ext cx="20116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projected bounce point against court boundaries.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Bounce Detection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trajectory dynamics instead of single-frame evidence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731520" cy="-82296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023360"/>
            <a:ext cx="822960" cy="-77724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246120"/>
            <a:ext cx="822960" cy="-50292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743200"/>
            <a:ext cx="914400" cy="-9144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651760"/>
            <a:ext cx="914400" cy="36576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3017520"/>
            <a:ext cx="1005840" cy="64008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657600"/>
            <a:ext cx="1005840" cy="77724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4434840"/>
            <a:ext cx="1097280" cy="64008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120640"/>
            <a:ext cx="8046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14884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2212848"/>
            <a:ext cx="1380744" cy="109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bounce frame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526280" y="2496312"/>
            <a:ext cx="-91440" cy="118872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1417320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41732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3728" y="1600200"/>
            <a:ext cx="2057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53728" y="1984248"/>
            <a:ext cx="20574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x, y, velocity, acceleration, visibility class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052560" y="2834640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0" y="283464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3728" y="3017520"/>
            <a:ext cx="2057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53728" y="3401568"/>
            <a:ext cx="20574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classifier over a short frame window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052560" y="4251960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52560" y="425196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53728" y="4434840"/>
            <a:ext cx="2057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53728" y="4818888"/>
            <a:ext cx="20574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 / non-bounce probability per frame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In/Out Decision Logic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Convert perception into a transparent rule-based decision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4480560" cy="3520440"/>
          </a:xfrm>
          <a:prstGeom prst="rect">
            <a:avLst/>
          </a:prstGeom>
          <a:solidFill>
            <a:srgbClr val="0E766E"/>
          </a:solidFill>
          <a:ln w="203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5685" y="1713128"/>
            <a:ext cx="3763670" cy="2745943"/>
          </a:xfrm>
          <a:prstGeom prst="rect">
            <a:avLst/>
          </a:prstGeom>
          <a:solidFill>
            <a:srgbClr val="0E766E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713128"/>
            <a:ext cx="0" cy="274594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5685" y="3086100"/>
            <a:ext cx="376367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7380" y="1713128"/>
            <a:ext cx="0" cy="274594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37660" y="1713128"/>
            <a:ext cx="0" cy="274594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3794760"/>
            <a:ext cx="164592" cy="164592"/>
          </a:xfrm>
          <a:prstGeom prst="ellipse">
            <a:avLst/>
          </a:prstGeom>
          <a:solidFill>
            <a:srgbClr val="B9F42B"/>
          </a:solidFill>
          <a:ln w="8890">
            <a:solidFill>
              <a:srgbClr val="0B12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420624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4270248"/>
            <a:ext cx="1289304" cy="109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bounce point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852160" y="141732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527048"/>
            <a:ext cx="128016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1444752"/>
            <a:ext cx="43891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ball at bounce frame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62472" y="1810512"/>
            <a:ext cx="0" cy="42976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2160" y="246888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578608"/>
            <a:ext cx="128016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2496312"/>
            <a:ext cx="43891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ball point onto court plane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62472" y="2862072"/>
            <a:ext cx="0" cy="42976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52160" y="352044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630168"/>
            <a:ext cx="128016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3547872"/>
            <a:ext cx="43891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point relative to active court lines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62472" y="3913632"/>
            <a:ext cx="0" cy="42976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457200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4681728"/>
            <a:ext cx="128016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4599432"/>
            <a:ext cx="43891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In / Out + confidence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decision layer is intentionally explicit: the model estimates coordinates, then deterministic geometry evaluates the line call.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"/>
            <a:ext cx="12191695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Plan and Expected Outcomes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How success will be measured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484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Automated Tennis Line Calling Proposal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097280"/>
            <a:ext cx="64008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evaluation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1664208"/>
            <a:ext cx="3200400" cy="1124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localization error, detection precision/recall, robustness under motion blur and occlusion.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43400" y="109728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09728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 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1664208"/>
            <a:ext cx="3200400" cy="1124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Frame-level bounce classification accuracy, F1 score, and tolerance around true bounce frame.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1097280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Line-call evaluation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1664208"/>
            <a:ext cx="3200400" cy="1124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In/Out decision rate and distance-to-line sensitivity analysis.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4400" y="4709160"/>
            <a:ext cx="100584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498848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63240" y="4498848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449884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 mapping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449884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 model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4498848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demo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deliverable: an end-to-end prototype with documented methodology, trained models, evaluation results, and a demo video.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USTH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Automated Tennis Tracking System for Line Calling</dc:title>
  <dc:subject>Proposal Project Slides</dc:subject>
  <dc:creator>OpenAI</dc:creator>
  <cp:lastModifiedBy>OpenAI</cp:lastModifiedBy>
  <cp:revision>1</cp:revision>
  <dcterms:created xsi:type="dcterms:W3CDTF">2026-04-28T17:44:04Z</dcterms:created>
  <dcterms:modified xsi:type="dcterms:W3CDTF">2026-04-28T17:44:04Z</dcterms:modified>
</cp:coreProperties>
</file>